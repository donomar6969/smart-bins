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717577-598D-517E-3443-178F7A1FF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668AC3-14B9-9BF5-2EC0-AD018B3622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C38E40-5370-D3BC-1E47-EDB84B3B8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587B-B100-42BF-8989-CC66C0D7C434}" type="datetimeFigureOut">
              <a:rPr lang="es-MX" smtClean="0"/>
              <a:t>09/08/2026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877F64-89FB-AE1C-E470-8EF2A6F9E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C7EBC4-F700-4A34-13E1-95D350E94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3894-41B0-4ED3-9A37-A260B063F98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6775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7DB5E9-FDB8-3A47-7BA7-225A2AD79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A974E0-86B9-8F33-953B-E64C0D77E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CE86BB-BFD5-4C79-8B7B-7A397A260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587B-B100-42BF-8989-CC66C0D7C434}" type="datetimeFigureOut">
              <a:rPr lang="es-MX" smtClean="0"/>
              <a:t>09/08/2026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A99E60-6B34-8F7A-1E59-B730CD7C0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176826-3FF6-092E-E7E2-C278BEE77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3894-41B0-4ED3-9A37-A260B063F98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2612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25AC74-18C4-5C6B-B000-2A4A5231E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91B31F-CDAA-E6D0-62BF-24F689686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AB28E6-13F8-4926-F6CB-A36EA5E39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587B-B100-42BF-8989-CC66C0D7C434}" type="datetimeFigureOut">
              <a:rPr lang="es-MX" smtClean="0"/>
              <a:t>09/08/2026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60C2BF-26CD-A549-8AD0-A242CE938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1F04F4-CD70-4296-612B-CCC0E3103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3894-41B0-4ED3-9A37-A260B063F98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7420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EC44F4-466E-9404-735D-0703AA713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1DDCCE-B1E5-7063-8257-D32FC08C0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A8D436-8BAC-551C-7121-8231E0C10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9A0A20-3A11-44AC-5FCD-F5FEE9B7B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587B-B100-42BF-8989-CC66C0D7C434}" type="datetimeFigureOut">
              <a:rPr lang="es-MX" smtClean="0"/>
              <a:t>09/08/2026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184241F-852D-7BC8-E685-0F728C7AC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77F6BA-79CD-8CEA-2336-52AA5D35F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3894-41B0-4ED3-9A37-A260B063F98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40459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0C7E7F-DF6F-D32D-07B9-1BA7C4F57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0AD3439-145D-F05C-7E40-67A701B94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1F3F630-6F34-927E-0651-010963633E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B869775-B960-31B8-1433-9324667BD6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0F20352-DCF0-4502-49FA-4B46F27D48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6C3B23A-0B94-B922-6279-4D286F9FE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587B-B100-42BF-8989-CC66C0D7C434}" type="datetimeFigureOut">
              <a:rPr lang="es-MX" smtClean="0"/>
              <a:t>09/08/2026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C262951-83F0-6EB2-3E4E-62AF0D0ED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BA95A5D-AD36-BB45-ED46-02F7D9967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3894-41B0-4ED3-9A37-A260B063F98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37655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93CB2-0E0B-426C-C60A-F8CA9056B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9BFBEC7-EADE-E836-0BA4-2C7457D54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587B-B100-42BF-8989-CC66C0D7C434}" type="datetimeFigureOut">
              <a:rPr lang="es-MX" smtClean="0"/>
              <a:t>09/08/2026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DB46EC0-AF75-E3A6-2129-F41D21D38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9B1FF06-BC77-8B5E-AED2-22206EC3D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3894-41B0-4ED3-9A37-A260B063F98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7531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4A8269E-DD78-F735-8992-8F8D2CB04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587B-B100-42BF-8989-CC66C0D7C434}" type="datetimeFigureOut">
              <a:rPr lang="es-MX" smtClean="0"/>
              <a:t>09/08/2026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CED52DC-6028-E192-4B18-BE44311A8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9FF720-3952-DA20-C9A8-7A80C1448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3894-41B0-4ED3-9A37-A260B063F98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8467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2E3387-4584-6ED8-F79B-4105AEFBD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C4E1B1-0CEA-CDAC-EFB6-95591F5B2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8EAA191-4248-9B81-4921-8865DE7D3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BF10050-215B-B67B-F9FE-4B81BCFE8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587B-B100-42BF-8989-CC66C0D7C434}" type="datetimeFigureOut">
              <a:rPr lang="es-MX" smtClean="0"/>
              <a:t>09/08/2026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AA696C1-4987-37DF-425B-E61F86CE9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FD75E9-9FD7-B801-4125-BD4E7A1B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3894-41B0-4ED3-9A37-A260B063F98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25419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1C9FCD-F933-010C-B735-D18466455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4E7120F-07CA-5127-DF78-2A340BC727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D6BF8AF-E40D-B078-43A7-F1EF2D69B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B2026F6-BEE4-C59C-CD90-1A4477C02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587B-B100-42BF-8989-CC66C0D7C434}" type="datetimeFigureOut">
              <a:rPr lang="es-MX" smtClean="0"/>
              <a:t>09/08/2026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2115DB-8F21-A9CE-E84C-8E1CB7E3A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462ADB-BF8C-8E19-BAF1-AE07305EE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3894-41B0-4ED3-9A37-A260B063F98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77142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E0D669-B9FB-EA60-C592-1AFDFBB3F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3ACE0FC-0876-24DD-619D-6351A4F404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683260-D350-9E40-6ED1-E00C56DBE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587B-B100-42BF-8989-CC66C0D7C434}" type="datetimeFigureOut">
              <a:rPr lang="es-MX" smtClean="0"/>
              <a:t>09/08/2026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2C3358-4C8A-7728-F56F-BA0322F0E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8B9DCA-9F7C-B150-855C-7EEDA535E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3894-41B0-4ED3-9A37-A260B063F98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01973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041ED08-7641-1D6F-77DC-A4E36802B9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F66EB19-5171-4D87-5618-7C7F590F8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5A162F-A399-CF9A-C05E-4565E6128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587B-B100-42BF-8989-CC66C0D7C434}" type="datetimeFigureOut">
              <a:rPr lang="es-MX" smtClean="0"/>
              <a:t>09/08/2026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DFBC34-D509-3380-76F4-EC3BB90A9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A31FC4-2731-E953-3BCD-AC6F11B18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3894-41B0-4ED3-9A37-A260B063F98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7829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9409EA0-9900-F25B-5D75-D00BEE720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A330CC0-8D3B-58BC-6312-55061186A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EF735F-4B7A-8CC9-9DB2-BD8C9C9998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4D587B-B100-42BF-8989-CC66C0D7C434}" type="datetimeFigureOut">
              <a:rPr lang="es-MX" smtClean="0"/>
              <a:t>09/08/2026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ED30A6-3F93-7BC1-4863-2466B63082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A3786F-CE59-CCD8-9AC4-6865A2DCE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9D3894-41B0-4ED3-9A37-A260B063F98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305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band">
            <a:extLst>
              <a:ext uri="{FF2B5EF4-FFF2-40B4-BE49-F238E27FC236}">
                <a16:creationId xmlns:a16="http://schemas.microsoft.com/office/drawing/2014/main" id="{570BD15B-7882-BA65-1F35-9AE97BB25F37}"/>
              </a:ext>
            </a:extLst>
          </p:cNvPr>
          <p:cNvSpPr/>
          <p:nvPr/>
        </p:nvSpPr>
        <p:spPr>
          <a:xfrm>
            <a:off x="0" y="0"/>
            <a:ext cx="12192000" cy="895350"/>
          </a:xfrm>
          <a:prstGeom prst="rect">
            <a:avLst/>
          </a:prstGeom>
          <a:solidFill>
            <a:srgbClr val="005B7F"/>
          </a:solidFill>
          <a:ln w="8890">
            <a:solidFill>
              <a:srgbClr val="005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header-accent">
            <a:extLst>
              <a:ext uri="{FF2B5EF4-FFF2-40B4-BE49-F238E27FC236}">
                <a16:creationId xmlns:a16="http://schemas.microsoft.com/office/drawing/2014/main" id="{7BFDB36A-625B-BBF5-3013-1342A81C12ED}"/>
              </a:ext>
            </a:extLst>
          </p:cNvPr>
          <p:cNvSpPr/>
          <p:nvPr/>
        </p:nvSpPr>
        <p:spPr>
          <a:xfrm>
            <a:off x="0" y="895350"/>
            <a:ext cx="12192000" cy="66675"/>
          </a:xfrm>
          <a:prstGeom prst="rect">
            <a:avLst/>
          </a:prstGeom>
          <a:solidFill>
            <a:srgbClr val="E8873A"/>
          </a:solidFill>
          <a:ln w="8890">
            <a:solidFill>
              <a:srgbClr val="E88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BC983DDF-B393-7AE8-8366-E0180C1DDDF6}"/>
              </a:ext>
            </a:extLst>
          </p:cNvPr>
          <p:cNvSpPr txBox="1"/>
          <p:nvPr/>
        </p:nvSpPr>
        <p:spPr>
          <a:xfrm>
            <a:off x="558800" y="177800"/>
            <a:ext cx="10160000" cy="39241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550" b="1">
                <a:solidFill>
                  <a:srgbClr val="FFFFFF"/>
                </a:solidFill>
                <a:latin typeface="Aptos Display" panose="020B0004020202020204" pitchFamily="34" charset="0"/>
              </a:rPr>
              <a:t>Smart Bins convierte un modelo en producción guiada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46DB3B-BC7E-0DEE-D1E6-0E6395003112}"/>
              </a:ext>
            </a:extLst>
          </p:cNvPr>
          <p:cNvSpPr txBox="1"/>
          <p:nvPr/>
        </p:nvSpPr>
        <p:spPr>
          <a:xfrm>
            <a:off x="571500" y="1143000"/>
            <a:ext cx="10287000" cy="22313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450">
                <a:solidFill>
                  <a:srgbClr val="35505C"/>
                </a:solidFill>
                <a:latin typeface="Aptos" panose="020B0004020202020204" pitchFamily="34" charset="0"/>
              </a:rPr>
              <a:t>Un flujo digital, desde la preparación de ingeniería hasta la ejecución del operador</a:t>
            </a:r>
          </a:p>
        </p:txBody>
      </p:sp>
      <p:sp>
        <p:nvSpPr>
          <p:cNvPr id="6" name="step-card-1">
            <a:extLst>
              <a:ext uri="{FF2B5EF4-FFF2-40B4-BE49-F238E27FC236}">
                <a16:creationId xmlns:a16="http://schemas.microsoft.com/office/drawing/2014/main" id="{075B1E08-785D-E92A-AB4C-0808B847E6C4}"/>
              </a:ext>
            </a:extLst>
          </p:cNvPr>
          <p:cNvSpPr/>
          <p:nvPr/>
        </p:nvSpPr>
        <p:spPr>
          <a:xfrm>
            <a:off x="558800" y="1866900"/>
            <a:ext cx="2476500" cy="280035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0E2"/>
            </a:solidFill>
          </a:ln>
          <a:effectLst>
            <a:outerShdw blurRad="63500" dist="28398" dir="3806086" rotWithShape="0">
              <a:scrgbClr r="0" g="0" b="0">
                <a:alpha val="1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step-number-1">
            <a:extLst>
              <a:ext uri="{FF2B5EF4-FFF2-40B4-BE49-F238E27FC236}">
                <a16:creationId xmlns:a16="http://schemas.microsoft.com/office/drawing/2014/main" id="{49150B0C-1720-6EF0-2A85-9CEB8FA1628E}"/>
              </a:ext>
            </a:extLst>
          </p:cNvPr>
          <p:cNvSpPr/>
          <p:nvPr/>
        </p:nvSpPr>
        <p:spPr>
          <a:xfrm>
            <a:off x="768350" y="2076450"/>
            <a:ext cx="571500" cy="571500"/>
          </a:xfrm>
          <a:prstGeom prst="roundRect">
            <a:avLst/>
          </a:prstGeom>
          <a:solidFill>
            <a:srgbClr val="D85A6A"/>
          </a:solidFill>
          <a:ln w="8890">
            <a:solidFill>
              <a:srgbClr val="D85A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step-number-text-1">
            <a:extLst>
              <a:ext uri="{FF2B5EF4-FFF2-40B4-BE49-F238E27FC236}">
                <a16:creationId xmlns:a16="http://schemas.microsoft.com/office/drawing/2014/main" id="{96941EF5-DE46-E43F-5137-AFB21380D5B1}"/>
              </a:ext>
            </a:extLst>
          </p:cNvPr>
          <p:cNvSpPr txBox="1"/>
          <p:nvPr/>
        </p:nvSpPr>
        <p:spPr>
          <a:xfrm>
            <a:off x="768350" y="2184400"/>
            <a:ext cx="571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500" b="1">
                <a:solidFill>
                  <a:srgbClr val="FFFFFF"/>
                </a:solidFill>
                <a:latin typeface="Aptos Display" panose="020B0004020202020204" pitchFamily="34" charset="0"/>
              </a:rPr>
              <a:t>01</a:t>
            </a:r>
          </a:p>
        </p:txBody>
      </p:sp>
      <p:sp>
        <p:nvSpPr>
          <p:cNvPr id="9" name="step-tag-1">
            <a:extLst>
              <a:ext uri="{FF2B5EF4-FFF2-40B4-BE49-F238E27FC236}">
                <a16:creationId xmlns:a16="http://schemas.microsoft.com/office/drawing/2014/main" id="{115E2411-7D7A-BE5F-217C-AE525DC1006F}"/>
              </a:ext>
            </a:extLst>
          </p:cNvPr>
          <p:cNvSpPr txBox="1"/>
          <p:nvPr/>
        </p:nvSpPr>
        <p:spPr>
          <a:xfrm>
            <a:off x="1492250" y="2197100"/>
            <a:ext cx="1270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50" b="1">
                <a:solidFill>
                  <a:srgbClr val="D85A6A"/>
                </a:solidFill>
                <a:latin typeface="Aptos" panose="020B0004020202020204" pitchFamily="34" charset="0"/>
              </a:rPr>
              <a:t>INGENIERíA</a:t>
            </a:r>
          </a:p>
        </p:txBody>
      </p:sp>
      <p:sp>
        <p:nvSpPr>
          <p:cNvPr id="10" name="step-title-1">
            <a:extLst>
              <a:ext uri="{FF2B5EF4-FFF2-40B4-BE49-F238E27FC236}">
                <a16:creationId xmlns:a16="http://schemas.microsoft.com/office/drawing/2014/main" id="{E6A6CB93-C748-EB75-CBD4-180C0EF0218B}"/>
              </a:ext>
            </a:extLst>
          </p:cNvPr>
          <p:cNvSpPr txBox="1"/>
          <p:nvPr/>
        </p:nvSpPr>
        <p:spPr>
          <a:xfrm>
            <a:off x="768350" y="2914650"/>
            <a:ext cx="20574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b="1">
                <a:solidFill>
                  <a:srgbClr val="15333E"/>
                </a:solidFill>
                <a:latin typeface="Aptos Display" panose="020B0004020202020204" pitchFamily="34" charset="0"/>
              </a:rPr>
              <a:t>Preparar el modelo</a:t>
            </a:r>
          </a:p>
        </p:txBody>
      </p:sp>
      <p:sp>
        <p:nvSpPr>
          <p:cNvPr id="11" name="step-body-1">
            <a:extLst>
              <a:ext uri="{FF2B5EF4-FFF2-40B4-BE49-F238E27FC236}">
                <a16:creationId xmlns:a16="http://schemas.microsoft.com/office/drawing/2014/main" id="{2B2A6467-9BD3-8EB4-712E-79495B2B5B1D}"/>
              </a:ext>
            </a:extLst>
          </p:cNvPr>
          <p:cNvSpPr txBox="1"/>
          <p:nvPr/>
        </p:nvSpPr>
        <p:spPr>
          <a:xfrm>
            <a:off x="768350" y="3657600"/>
            <a:ext cx="20574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50">
                <a:solidFill>
                  <a:srgbClr val="536A73"/>
                </a:solidFill>
                <a:latin typeface="Aptos" panose="020B0004020202020204" pitchFamily="34" charset="0"/>
              </a:rPr>
              <a:t>Componentes, bins, imágenes y tiempos de ciclo</a:t>
            </a:r>
          </a:p>
        </p:txBody>
      </p:sp>
      <p:sp>
        <p:nvSpPr>
          <p:cNvPr id="12" name="Flecha: cheurón 11">
            <a:extLst>
              <a:ext uri="{FF2B5EF4-FFF2-40B4-BE49-F238E27FC236}">
                <a16:creationId xmlns:a16="http://schemas.microsoft.com/office/drawing/2014/main" id="{9B7467CC-0F65-0B4D-DC8D-57B5614EE961}"/>
              </a:ext>
            </a:extLst>
          </p:cNvPr>
          <p:cNvSpPr/>
          <p:nvPr/>
        </p:nvSpPr>
        <p:spPr>
          <a:xfrm>
            <a:off x="3111500" y="3067050"/>
            <a:ext cx="209550" cy="400050"/>
          </a:xfrm>
          <a:prstGeom prst="chevron">
            <a:avLst/>
          </a:prstGeom>
          <a:solidFill>
            <a:srgbClr val="AAB8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13" name="step-card-2">
            <a:extLst>
              <a:ext uri="{FF2B5EF4-FFF2-40B4-BE49-F238E27FC236}">
                <a16:creationId xmlns:a16="http://schemas.microsoft.com/office/drawing/2014/main" id="{870558A1-7FA0-28C0-5B40-1A46F82DB061}"/>
              </a:ext>
            </a:extLst>
          </p:cNvPr>
          <p:cNvSpPr/>
          <p:nvPr/>
        </p:nvSpPr>
        <p:spPr>
          <a:xfrm>
            <a:off x="3397250" y="1866900"/>
            <a:ext cx="2476500" cy="280035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0E2"/>
            </a:solidFill>
          </a:ln>
          <a:effectLst>
            <a:outerShdw blurRad="63500" dist="28398" dir="3806086" rotWithShape="0">
              <a:scrgbClr r="0" g="0" b="0">
                <a:alpha val="1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step-number-2">
            <a:extLst>
              <a:ext uri="{FF2B5EF4-FFF2-40B4-BE49-F238E27FC236}">
                <a16:creationId xmlns:a16="http://schemas.microsoft.com/office/drawing/2014/main" id="{1D914DDE-7BDA-6AF3-DC2D-C599AEAC139C}"/>
              </a:ext>
            </a:extLst>
          </p:cNvPr>
          <p:cNvSpPr/>
          <p:nvPr/>
        </p:nvSpPr>
        <p:spPr>
          <a:xfrm>
            <a:off x="3606800" y="2076450"/>
            <a:ext cx="571500" cy="571500"/>
          </a:xfrm>
          <a:prstGeom prst="roundRect">
            <a:avLst/>
          </a:prstGeom>
          <a:solidFill>
            <a:srgbClr val="E8873A"/>
          </a:solidFill>
          <a:ln w="8890">
            <a:solidFill>
              <a:srgbClr val="E88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step-number-text-2">
            <a:extLst>
              <a:ext uri="{FF2B5EF4-FFF2-40B4-BE49-F238E27FC236}">
                <a16:creationId xmlns:a16="http://schemas.microsoft.com/office/drawing/2014/main" id="{0B081C3D-AFBA-2729-EADF-08E35F4693DF}"/>
              </a:ext>
            </a:extLst>
          </p:cNvPr>
          <p:cNvSpPr txBox="1"/>
          <p:nvPr/>
        </p:nvSpPr>
        <p:spPr>
          <a:xfrm>
            <a:off x="3606800" y="2184400"/>
            <a:ext cx="571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500" b="1">
                <a:solidFill>
                  <a:srgbClr val="FFFFFF"/>
                </a:solidFill>
                <a:latin typeface="Aptos Display" panose="020B0004020202020204" pitchFamily="34" charset="0"/>
              </a:rPr>
              <a:t>02</a:t>
            </a:r>
          </a:p>
        </p:txBody>
      </p:sp>
      <p:sp>
        <p:nvSpPr>
          <p:cNvPr id="16" name="step-tag-2">
            <a:extLst>
              <a:ext uri="{FF2B5EF4-FFF2-40B4-BE49-F238E27FC236}">
                <a16:creationId xmlns:a16="http://schemas.microsoft.com/office/drawing/2014/main" id="{A417048F-294A-BA46-FD37-C4BE94ED8EAB}"/>
              </a:ext>
            </a:extLst>
          </p:cNvPr>
          <p:cNvSpPr txBox="1"/>
          <p:nvPr/>
        </p:nvSpPr>
        <p:spPr>
          <a:xfrm>
            <a:off x="4330700" y="2197100"/>
            <a:ext cx="1270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50" b="1">
                <a:solidFill>
                  <a:srgbClr val="E8873A"/>
                </a:solidFill>
                <a:latin typeface="Aptos" panose="020B0004020202020204" pitchFamily="34" charset="0"/>
              </a:rPr>
              <a:t>INGENIERíA</a:t>
            </a:r>
          </a:p>
        </p:txBody>
      </p:sp>
      <p:sp>
        <p:nvSpPr>
          <p:cNvPr id="17" name="step-title-2">
            <a:extLst>
              <a:ext uri="{FF2B5EF4-FFF2-40B4-BE49-F238E27FC236}">
                <a16:creationId xmlns:a16="http://schemas.microsoft.com/office/drawing/2014/main" id="{7B59FF45-00EC-7A8A-5F4B-96F86C16BE28}"/>
              </a:ext>
            </a:extLst>
          </p:cNvPr>
          <p:cNvSpPr txBox="1"/>
          <p:nvPr/>
        </p:nvSpPr>
        <p:spPr>
          <a:xfrm>
            <a:off x="3606800" y="2914650"/>
            <a:ext cx="20574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b="1">
                <a:solidFill>
                  <a:srgbClr val="15333E"/>
                </a:solidFill>
                <a:latin typeface="Aptos Display" panose="020B0004020202020204" pitchFamily="34" charset="0"/>
              </a:rPr>
              <a:t>Definir el proceso</a:t>
            </a:r>
          </a:p>
        </p:txBody>
      </p:sp>
      <p:sp>
        <p:nvSpPr>
          <p:cNvPr id="18" name="step-body-2">
            <a:extLst>
              <a:ext uri="{FF2B5EF4-FFF2-40B4-BE49-F238E27FC236}">
                <a16:creationId xmlns:a16="http://schemas.microsoft.com/office/drawing/2014/main" id="{BC077D55-ECC1-A070-A5FD-B3F2D60E5EF9}"/>
              </a:ext>
            </a:extLst>
          </p:cNvPr>
          <p:cNvSpPr txBox="1"/>
          <p:nvPr/>
        </p:nvSpPr>
        <p:spPr>
          <a:xfrm>
            <a:off x="3606800" y="3657600"/>
            <a:ext cx="20574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50">
                <a:solidFill>
                  <a:srgbClr val="536A73"/>
                </a:solidFill>
                <a:latin typeface="Aptos" panose="020B0004020202020204" pitchFamily="34" charset="0"/>
              </a:rPr>
              <a:t>Crear o importar la secuencia de ensamble</a:t>
            </a:r>
          </a:p>
        </p:txBody>
      </p:sp>
      <p:sp>
        <p:nvSpPr>
          <p:cNvPr id="19" name="Flecha: cheurón 18">
            <a:extLst>
              <a:ext uri="{FF2B5EF4-FFF2-40B4-BE49-F238E27FC236}">
                <a16:creationId xmlns:a16="http://schemas.microsoft.com/office/drawing/2014/main" id="{58507057-A10F-B223-57A2-13A6076293F6}"/>
              </a:ext>
            </a:extLst>
          </p:cNvPr>
          <p:cNvSpPr/>
          <p:nvPr/>
        </p:nvSpPr>
        <p:spPr>
          <a:xfrm>
            <a:off x="5949950" y="3067050"/>
            <a:ext cx="209550" cy="400050"/>
          </a:xfrm>
          <a:prstGeom prst="chevron">
            <a:avLst/>
          </a:prstGeom>
          <a:solidFill>
            <a:srgbClr val="AAB8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20" name="step-card-3">
            <a:extLst>
              <a:ext uri="{FF2B5EF4-FFF2-40B4-BE49-F238E27FC236}">
                <a16:creationId xmlns:a16="http://schemas.microsoft.com/office/drawing/2014/main" id="{2E936AB7-5E76-9551-7F1F-F0C2429212E2}"/>
              </a:ext>
            </a:extLst>
          </p:cNvPr>
          <p:cNvSpPr/>
          <p:nvPr/>
        </p:nvSpPr>
        <p:spPr>
          <a:xfrm>
            <a:off x="6235700" y="1866900"/>
            <a:ext cx="2476500" cy="280035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0E2"/>
            </a:solidFill>
          </a:ln>
          <a:effectLst>
            <a:outerShdw blurRad="63500" dist="28398" dir="3806086" rotWithShape="0">
              <a:scrgbClr r="0" g="0" b="0">
                <a:alpha val="1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step-number-3">
            <a:extLst>
              <a:ext uri="{FF2B5EF4-FFF2-40B4-BE49-F238E27FC236}">
                <a16:creationId xmlns:a16="http://schemas.microsoft.com/office/drawing/2014/main" id="{815814E2-53A3-0C66-6EE3-6B181B0A960E}"/>
              </a:ext>
            </a:extLst>
          </p:cNvPr>
          <p:cNvSpPr/>
          <p:nvPr/>
        </p:nvSpPr>
        <p:spPr>
          <a:xfrm>
            <a:off x="6445250" y="2076450"/>
            <a:ext cx="571500" cy="571500"/>
          </a:xfrm>
          <a:prstGeom prst="roundRect">
            <a:avLst/>
          </a:prstGeom>
          <a:solidFill>
            <a:srgbClr val="82A83C"/>
          </a:solidFill>
          <a:ln w="8890">
            <a:solidFill>
              <a:srgbClr val="82A8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step-number-text-3">
            <a:extLst>
              <a:ext uri="{FF2B5EF4-FFF2-40B4-BE49-F238E27FC236}">
                <a16:creationId xmlns:a16="http://schemas.microsoft.com/office/drawing/2014/main" id="{2FEE29BE-5AD0-D648-E8A7-1470DB68BBAE}"/>
              </a:ext>
            </a:extLst>
          </p:cNvPr>
          <p:cNvSpPr txBox="1"/>
          <p:nvPr/>
        </p:nvSpPr>
        <p:spPr>
          <a:xfrm>
            <a:off x="6445250" y="2184400"/>
            <a:ext cx="571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500" b="1">
                <a:solidFill>
                  <a:srgbClr val="FFFFFF"/>
                </a:solidFill>
                <a:latin typeface="Aptos Display" panose="020B0004020202020204" pitchFamily="34" charset="0"/>
              </a:rPr>
              <a:t>03</a:t>
            </a:r>
          </a:p>
        </p:txBody>
      </p:sp>
      <p:sp>
        <p:nvSpPr>
          <p:cNvPr id="23" name="step-tag-3">
            <a:extLst>
              <a:ext uri="{FF2B5EF4-FFF2-40B4-BE49-F238E27FC236}">
                <a16:creationId xmlns:a16="http://schemas.microsoft.com/office/drawing/2014/main" id="{07BAB9F1-2BA3-929A-E242-62E79FC9493B}"/>
              </a:ext>
            </a:extLst>
          </p:cNvPr>
          <p:cNvSpPr txBox="1"/>
          <p:nvPr/>
        </p:nvSpPr>
        <p:spPr>
          <a:xfrm>
            <a:off x="7169150" y="2197100"/>
            <a:ext cx="1270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50" b="1">
                <a:solidFill>
                  <a:srgbClr val="82A83C"/>
                </a:solidFill>
                <a:latin typeface="Aptos" panose="020B0004020202020204" pitchFamily="34" charset="0"/>
              </a:rPr>
              <a:t>PRODUCCIóN</a:t>
            </a:r>
          </a:p>
        </p:txBody>
      </p:sp>
      <p:sp>
        <p:nvSpPr>
          <p:cNvPr id="24" name="step-title-3">
            <a:extLst>
              <a:ext uri="{FF2B5EF4-FFF2-40B4-BE49-F238E27FC236}">
                <a16:creationId xmlns:a16="http://schemas.microsoft.com/office/drawing/2014/main" id="{B39981E0-3C6F-1F0B-FB60-55DF8FD5B83D}"/>
              </a:ext>
            </a:extLst>
          </p:cNvPr>
          <p:cNvSpPr txBox="1"/>
          <p:nvPr/>
        </p:nvSpPr>
        <p:spPr>
          <a:xfrm>
            <a:off x="6445250" y="2914650"/>
            <a:ext cx="20574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b="1">
                <a:solidFill>
                  <a:srgbClr val="15333E"/>
                </a:solidFill>
                <a:latin typeface="Aptos Display" panose="020B0004020202020204" pitchFamily="34" charset="0"/>
              </a:rPr>
              <a:t>Balancear la línea</a:t>
            </a:r>
          </a:p>
        </p:txBody>
      </p:sp>
      <p:sp>
        <p:nvSpPr>
          <p:cNvPr id="25" name="step-body-3">
            <a:extLst>
              <a:ext uri="{FF2B5EF4-FFF2-40B4-BE49-F238E27FC236}">
                <a16:creationId xmlns:a16="http://schemas.microsoft.com/office/drawing/2014/main" id="{C35B6B5E-129B-29E8-586A-B82116DC46B3}"/>
              </a:ext>
            </a:extLst>
          </p:cNvPr>
          <p:cNvSpPr txBox="1"/>
          <p:nvPr/>
        </p:nvSpPr>
        <p:spPr>
          <a:xfrm>
            <a:off x="6445250" y="3657600"/>
            <a:ext cx="20574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50">
                <a:solidFill>
                  <a:srgbClr val="536A73"/>
                </a:solidFill>
                <a:latin typeface="Aptos" panose="020B0004020202020204" pitchFamily="34" charset="0"/>
              </a:rPr>
              <a:t>Elegir operadores y distribuir la carga automáticamente</a:t>
            </a:r>
          </a:p>
        </p:txBody>
      </p:sp>
      <p:sp>
        <p:nvSpPr>
          <p:cNvPr id="26" name="Flecha: cheurón 25">
            <a:extLst>
              <a:ext uri="{FF2B5EF4-FFF2-40B4-BE49-F238E27FC236}">
                <a16:creationId xmlns:a16="http://schemas.microsoft.com/office/drawing/2014/main" id="{27A782F3-F138-0856-9B9E-006D705946EF}"/>
              </a:ext>
            </a:extLst>
          </p:cNvPr>
          <p:cNvSpPr/>
          <p:nvPr/>
        </p:nvSpPr>
        <p:spPr>
          <a:xfrm>
            <a:off x="8788400" y="3067050"/>
            <a:ext cx="209550" cy="400050"/>
          </a:xfrm>
          <a:prstGeom prst="chevron">
            <a:avLst/>
          </a:prstGeom>
          <a:solidFill>
            <a:srgbClr val="AAB8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27" name="step-card-4">
            <a:extLst>
              <a:ext uri="{FF2B5EF4-FFF2-40B4-BE49-F238E27FC236}">
                <a16:creationId xmlns:a16="http://schemas.microsoft.com/office/drawing/2014/main" id="{D0868808-B3B8-CA83-9156-CE6A431FBA83}"/>
              </a:ext>
            </a:extLst>
          </p:cNvPr>
          <p:cNvSpPr/>
          <p:nvPr/>
        </p:nvSpPr>
        <p:spPr>
          <a:xfrm>
            <a:off x="9074150" y="1866900"/>
            <a:ext cx="2476500" cy="280035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0E2"/>
            </a:solidFill>
          </a:ln>
          <a:effectLst>
            <a:outerShdw blurRad="63500" dist="28398" dir="3806086" rotWithShape="0">
              <a:scrgbClr r="0" g="0" b="0">
                <a:alpha val="1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step-number-4">
            <a:extLst>
              <a:ext uri="{FF2B5EF4-FFF2-40B4-BE49-F238E27FC236}">
                <a16:creationId xmlns:a16="http://schemas.microsoft.com/office/drawing/2014/main" id="{4E8FE9CC-CE37-7D8A-1ACF-26F4B0157B01}"/>
              </a:ext>
            </a:extLst>
          </p:cNvPr>
          <p:cNvSpPr/>
          <p:nvPr/>
        </p:nvSpPr>
        <p:spPr>
          <a:xfrm>
            <a:off x="9283700" y="2076450"/>
            <a:ext cx="571500" cy="571500"/>
          </a:xfrm>
          <a:prstGeom prst="roundRect">
            <a:avLst/>
          </a:prstGeom>
          <a:solidFill>
            <a:srgbClr val="008B89"/>
          </a:solidFill>
          <a:ln w="8890">
            <a:solidFill>
              <a:srgbClr val="008B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step-number-text-4">
            <a:extLst>
              <a:ext uri="{FF2B5EF4-FFF2-40B4-BE49-F238E27FC236}">
                <a16:creationId xmlns:a16="http://schemas.microsoft.com/office/drawing/2014/main" id="{9D0355CB-1ACF-F3EA-891A-2B7E85073270}"/>
              </a:ext>
            </a:extLst>
          </p:cNvPr>
          <p:cNvSpPr txBox="1"/>
          <p:nvPr/>
        </p:nvSpPr>
        <p:spPr>
          <a:xfrm>
            <a:off x="9283700" y="2184400"/>
            <a:ext cx="571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500" b="1">
                <a:solidFill>
                  <a:srgbClr val="FFFFFF"/>
                </a:solidFill>
                <a:latin typeface="Aptos Display" panose="020B0004020202020204" pitchFamily="34" charset="0"/>
              </a:rPr>
              <a:t>04</a:t>
            </a:r>
          </a:p>
        </p:txBody>
      </p:sp>
      <p:sp>
        <p:nvSpPr>
          <p:cNvPr id="30" name="step-tag-4">
            <a:extLst>
              <a:ext uri="{FF2B5EF4-FFF2-40B4-BE49-F238E27FC236}">
                <a16:creationId xmlns:a16="http://schemas.microsoft.com/office/drawing/2014/main" id="{D15554EA-082D-F56B-9912-F90F047A91A9}"/>
              </a:ext>
            </a:extLst>
          </p:cNvPr>
          <p:cNvSpPr txBox="1"/>
          <p:nvPr/>
        </p:nvSpPr>
        <p:spPr>
          <a:xfrm>
            <a:off x="10007600" y="2197100"/>
            <a:ext cx="1270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50" b="1">
                <a:solidFill>
                  <a:srgbClr val="008B89"/>
                </a:solidFill>
                <a:latin typeface="Aptos" panose="020B0004020202020204" pitchFamily="34" charset="0"/>
              </a:rPr>
              <a:t>PRODUCCIóN</a:t>
            </a:r>
          </a:p>
        </p:txBody>
      </p:sp>
      <p:sp>
        <p:nvSpPr>
          <p:cNvPr id="31" name="step-title-4">
            <a:extLst>
              <a:ext uri="{FF2B5EF4-FFF2-40B4-BE49-F238E27FC236}">
                <a16:creationId xmlns:a16="http://schemas.microsoft.com/office/drawing/2014/main" id="{A9B12DE5-2775-C863-9537-19AF9169518A}"/>
              </a:ext>
            </a:extLst>
          </p:cNvPr>
          <p:cNvSpPr txBox="1"/>
          <p:nvPr/>
        </p:nvSpPr>
        <p:spPr>
          <a:xfrm>
            <a:off x="9283700" y="2914650"/>
            <a:ext cx="20574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b="1">
                <a:solidFill>
                  <a:srgbClr val="15333E"/>
                </a:solidFill>
                <a:latin typeface="Aptos Display" panose="020B0004020202020204" pitchFamily="34" charset="0"/>
              </a:rPr>
              <a:t>Guiar la ejecución</a:t>
            </a:r>
          </a:p>
        </p:txBody>
      </p:sp>
      <p:sp>
        <p:nvSpPr>
          <p:cNvPr id="32" name="step-body-4">
            <a:extLst>
              <a:ext uri="{FF2B5EF4-FFF2-40B4-BE49-F238E27FC236}">
                <a16:creationId xmlns:a16="http://schemas.microsoft.com/office/drawing/2014/main" id="{74CD91FB-6335-0BD1-137D-23F4CDA04E46}"/>
              </a:ext>
            </a:extLst>
          </p:cNvPr>
          <p:cNvSpPr txBox="1"/>
          <p:nvPr/>
        </p:nvSpPr>
        <p:spPr>
          <a:xfrm>
            <a:off x="9283700" y="3657600"/>
            <a:ext cx="2057400" cy="57708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50">
                <a:solidFill>
                  <a:srgbClr val="536A73"/>
                </a:solidFill>
                <a:latin typeface="Aptos" panose="020B0004020202020204" pitchFamily="34" charset="0"/>
              </a:rPr>
              <a:t>Instrucciones visuales, avance y resultados de la corrida</a:t>
            </a:r>
          </a:p>
        </p:txBody>
      </p:sp>
      <p:sp>
        <p:nvSpPr>
          <p:cNvPr id="33" name="result-band">
            <a:extLst>
              <a:ext uri="{FF2B5EF4-FFF2-40B4-BE49-F238E27FC236}">
                <a16:creationId xmlns:a16="http://schemas.microsoft.com/office/drawing/2014/main" id="{E266723E-7D73-8EF3-1451-E2F14E5FEC57}"/>
              </a:ext>
            </a:extLst>
          </p:cNvPr>
          <p:cNvSpPr/>
          <p:nvPr/>
        </p:nvSpPr>
        <p:spPr>
          <a:xfrm>
            <a:off x="558800" y="5067300"/>
            <a:ext cx="10998200" cy="1066800"/>
          </a:xfrm>
          <a:prstGeom prst="roundRect">
            <a:avLst/>
          </a:prstGeom>
          <a:solidFill>
            <a:srgbClr val="E4EEF0"/>
          </a:solidFill>
          <a:ln w="8890">
            <a:solidFill>
              <a:srgbClr val="BDD1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result-label">
            <a:extLst>
              <a:ext uri="{FF2B5EF4-FFF2-40B4-BE49-F238E27FC236}">
                <a16:creationId xmlns:a16="http://schemas.microsoft.com/office/drawing/2014/main" id="{F489825C-EDF0-EB3F-6A4A-3E8077CCA147}"/>
              </a:ext>
            </a:extLst>
          </p:cNvPr>
          <p:cNvSpPr txBox="1"/>
          <p:nvPr/>
        </p:nvSpPr>
        <p:spPr>
          <a:xfrm>
            <a:off x="787400" y="5283200"/>
            <a:ext cx="13970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950" b="1">
                <a:solidFill>
                  <a:srgbClr val="005B7F"/>
                </a:solidFill>
                <a:latin typeface="Aptos" panose="020B0004020202020204" pitchFamily="34" charset="0"/>
              </a:rPr>
              <a:t>RESULTADO</a:t>
            </a:r>
          </a:p>
        </p:txBody>
      </p:sp>
      <p:sp>
        <p:nvSpPr>
          <p:cNvPr id="35" name="result-text">
            <a:extLst>
              <a:ext uri="{FF2B5EF4-FFF2-40B4-BE49-F238E27FC236}">
                <a16:creationId xmlns:a16="http://schemas.microsoft.com/office/drawing/2014/main" id="{BCA2E0AE-0B3E-666D-F186-54FEDC786557}"/>
              </a:ext>
            </a:extLst>
          </p:cNvPr>
          <p:cNvSpPr txBox="1"/>
          <p:nvPr/>
        </p:nvSpPr>
        <p:spPr>
          <a:xfrm>
            <a:off x="787400" y="5562600"/>
            <a:ext cx="10160000" cy="2385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50" b="1">
                <a:solidFill>
                  <a:srgbClr val="15333E"/>
                </a:solidFill>
                <a:latin typeface="Aptos Display" panose="020B0004020202020204" pitchFamily="34" charset="0"/>
              </a:rPr>
              <a:t>Cambios de modelo más ágiles  •  trabajo estandarizado  •  base escalable para estaciones inteligentes</a:t>
            </a:r>
          </a:p>
        </p:txBody>
      </p:sp>
      <p:sp>
        <p:nvSpPr>
          <p:cNvPr id="36" name="footer">
            <a:extLst>
              <a:ext uri="{FF2B5EF4-FFF2-40B4-BE49-F238E27FC236}">
                <a16:creationId xmlns:a16="http://schemas.microsoft.com/office/drawing/2014/main" id="{AC12ADB9-584E-26A3-3F9C-D66F6D59EE66}"/>
              </a:ext>
            </a:extLst>
          </p:cNvPr>
          <p:cNvSpPr txBox="1"/>
          <p:nvPr/>
        </p:nvSpPr>
        <p:spPr>
          <a:xfrm>
            <a:off x="9080500" y="6413500"/>
            <a:ext cx="24765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750">
                <a:solidFill>
                  <a:srgbClr val="75888F"/>
                </a:solidFill>
                <a:latin typeface="Aptos" panose="020B0004020202020204" pitchFamily="34" charset="0"/>
              </a:rPr>
              <a:t>SMART BINS  |  Staff concept sample</a:t>
            </a:r>
            <a:endParaRPr lang="es-MX" sz="750">
              <a:solidFill>
                <a:srgbClr val="75888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2840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</Words>
  <Application>Microsoft Office PowerPoint</Application>
  <PresentationFormat>Personalizado</PresentationFormat>
  <Paragraphs>21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JESHUA OMAR RIVERA LOPEZ</dc:creator>
  <cp:lastModifiedBy>JESHUA OMAR RIVERA LOPEZ</cp:lastModifiedBy>
  <cp:revision>1</cp:revision>
  <dcterms:created xsi:type="dcterms:W3CDTF">2026-08-09T19:05:23Z</dcterms:created>
  <dcterms:modified xsi:type="dcterms:W3CDTF">2026-08-09T19:05:24Z</dcterms:modified>
</cp:coreProperties>
</file>